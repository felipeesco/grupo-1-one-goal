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503" r:id="rId2"/>
    <p:sldId id="504" r:id="rId3"/>
    <p:sldId id="505" r:id="rId4"/>
    <p:sldId id="506" r:id="rId5"/>
    <p:sldId id="507" r:id="rId6"/>
    <p:sldId id="508" r:id="rId7"/>
    <p:sldId id="509" r:id="rId8"/>
    <p:sldId id="510" r:id="rId9"/>
    <p:sldId id="511" r:id="rId10"/>
    <p:sldId id="512" r:id="rId11"/>
    <p:sldId id="513" r:id="rId12"/>
    <p:sldId id="514" r:id="rId13"/>
    <p:sldId id="515" r:id="rId14"/>
    <p:sldId id="516" r:id="rId15"/>
    <p:sldId id="517" r:id="rId16"/>
    <p:sldId id="518" r:id="rId17"/>
    <p:sldId id="519" r:id="rId18"/>
    <p:sldId id="520" r:id="rId19"/>
    <p:sldId id="521" r:id="rId20"/>
    <p:sldId id="522" r:id="rId21"/>
    <p:sldId id="523" r:id="rId22"/>
    <p:sldId id="524" r:id="rId23"/>
    <p:sldId id="525" r:id="rId24"/>
    <p:sldId id="526" r:id="rId25"/>
    <p:sldId id="527" r:id="rId2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84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8962B-667C-4B1E-A679-2EAE51F9D051}" type="datetimeFigureOut">
              <a:rPr lang="es-CO" smtClean="0"/>
              <a:t>30/10/2026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6D6CA-A20D-484E-8B96-2DD2A4D887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440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PORTADA · 0:30</a:t>
            </a:r>
          </a:p>
          <a:p>
            <a:r>
              <a:t>Nombre de la solución, eslogan y logo salen del issue 13 (Campaña de lanzamiento, docs/10-campana.md). Mientras no exista la campaña, dejen el nombre provisional del proyecto.</a:t>
            </a:r>
          </a:p>
          <a:p>
            <a:r>
              <a:t>Integrantes con su programa de 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</a:t>
            </a:r>
          </a:p>
          <a:p>
            <a:r>
              <a:t>No se expone: sirve de guía al jurado. Los tiempos son los de la sustentación.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ORGANIZACIÓN · 0:45</a:t>
            </a:r>
          </a:p>
          <a:p>
            <a:r>
              <a:t>Fuente: docs/01-organizacion.md (issue 01).</a:t>
            </a:r>
          </a:p>
          <a:p>
            <a:r>
              <a:t>Un solo dato clave grande: la cifra que confirmó el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USUARIO · parte 1</a:t>
            </a:r>
          </a:p>
          <a:p>
            <a:r>
              <a:t>Fuente: docs/04-usuario.md (issue 05, Plan de entrevista).</a:t>
            </a:r>
          </a:p>
          <a:p>
            <a:r>
              <a:t>El usuario es la persona de la organización que vive la necesidad, no 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USUARIO · parte 2</a:t>
            </a:r>
          </a:p>
          <a:p>
            <a:r>
              <a:t>Fuente: issue 06 (Mapa de empatía). Cada cuadrante con frases reales de la entrevista, no supuestos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 · parte 1</a:t>
            </a:r>
          </a:p>
          <a:p>
            <a:r>
              <a:t>Fuente: docs/03-proceso-actual.md (issue 04). Exporten el BPMN en buena resolución y marquen PC1, PC2… en el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 · parte 2</a:t>
            </a:r>
          </a:p>
          <a:p>
            <a:r>
              <a:t>Usen la plantilla sin mencionar la solución. Los datos deben estar confirmados por el contacto (docs/01-organizacion.md).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 · parte 3</a:t>
            </a:r>
          </a:p>
          <a:p>
            <a:r>
              <a:t>Fuente: docs/05-canvas.md (issue 08). Peguen la imagen del Canvas diligenciado.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METODOLOGÍA · parte 1</a:t>
            </a:r>
          </a:p>
          <a:p>
            <a:r>
              <a:t>Fuente: docs/02-planeacion.md (issue 02). Una línea por fase con lo que hizo el equipo, no la definición de la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METODOLOGÍA · parte 2</a:t>
            </a:r>
          </a:p>
          <a:p>
            <a:r>
              <a:t>Fuente: repositorio y tablero de GitHub Projects (issue 02). Mencionar en una frase cada herramienta; no se explica GitHub al jurado.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METODOLOGÍA · parte 3</a:t>
            </a:r>
          </a:p>
          <a:p>
            <a:r>
              <a:t>Fuente: docs/02-planeacion.md (issue 02). Captura de la vista Roadmap del tablero; se reemplaza cada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SOLUCIÓN · parte 1</a:t>
            </a:r>
          </a:p>
          <a:p>
            <a:r>
              <a:t>Fuente: docs/07-prototipo.md (issue 07). Cada punto crítico del BPMN se vuelve un requisito.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SOLUCIÓN · parte 2</a:t>
            </a:r>
          </a:p>
          <a:p>
            <a:r>
              <a:t>Fuente: docs/06-solucion.md (issue 09). Flujo de información en BPMN: entradas, procesos, salidas y responsables.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SOLUCIÓN · parte 3</a:t>
            </a:r>
          </a:p>
          <a:p>
            <a:r>
              <a:t>Comparen el mismo paso del proceso hoy y con la solución. Usen datos cuando existan.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1</a:t>
            </a:r>
          </a:p>
          <a:p>
            <a:r>
              <a:t>Fuente: docs/07-prototipo.md (issue 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2</a:t>
            </a:r>
          </a:p>
          <a:p>
            <a:r>
              <a:t>Fuente: wireframes del issue 07 en assets/. Muestren el flujo principal en 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3</a:t>
            </a:r>
          </a:p>
          <a:p>
            <a:r>
              <a:t>Fuentes: issues 10, 11 y 16, con las capturas de cada 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4</a:t>
            </a:r>
          </a:p>
          <a:p>
            <a:r>
              <a:t>Aquí ocurre la demostración en vivo (la mayor parte de los 2:30). Tengan listo el equipo, las descargas y los datos de prueba. El video no reemplaza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VALIDACIÓN · parte 1</a:t>
            </a:r>
          </a:p>
          <a:p>
            <a:r>
              <a:t>Fuente: docs/08-validacion.md (issue 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VALIDACIÓN · parte 2</a:t>
            </a:r>
          </a:p>
          <a:p>
            <a:r>
              <a:t>Métricas del plan de testeo y la retroalimentación textual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VALIDACIÓN · parte 3</a:t>
            </a:r>
          </a:p>
          <a:p>
            <a:r>
              <a:t>Cada aprendizaje de la prueba con su ajuste en la v1.0 (issue 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CAMPAÑA</a:t>
            </a:r>
          </a:p>
          <a:p>
            <a:r>
              <a:t>Fuentes: issues 13 y 14, docs/10-campana.md. Los elementos físicos se exhiben durante la sustentación.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</a:t>
            </a:r>
          </a:p>
          <a:p>
            <a:r>
              <a:t>Cierren con el eslogan y abran los 5 minutos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ANEXO · no se expone</a:t>
            </a:r>
          </a:p>
          <a:p>
            <a:r>
              <a:t>Fuente: docs/09-riesgos.md (issue 12). Los tres riesgos de nivel más alto.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ANEXO · no se expone</a:t>
            </a:r>
          </a:p>
          <a:p>
            <a:r>
              <a:t>Fuente: docs/11-uso-ia.md (issue 17). Un registro por cada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3DA2"/>
              </a:gs>
              <a:gs pos="52000">
                <a:srgbClr val="00807F"/>
              </a:gs>
              <a:gs pos="100000">
                <a:srgbClr val="00BE6A"/>
              </a:gs>
            </a:gsLst>
            <a:lin ang="18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n 11" descr="Universidad Ean"/>
          <p:cNvPicPr>
            <a:picLocks noChangeAspect="1"/>
          </p:cNvPicPr>
          <p:nvPr/>
        </p:nvPicPr>
        <p:blipFill>
          <a:blip r:embed="rId3"/>
          <a:srcRect l="-66" r="-66"/>
          <a:stretch/>
        </p:blipFill>
        <p:spPr>
          <a:xfrm>
            <a:off x="9931400" y="508000"/>
            <a:ext cx="1498600" cy="660400"/>
          </a:xfrm>
          <a:prstGeom prst="rect">
            <a:avLst/>
          </a:prstGeom>
        </p:spPr>
      </p:pic>
      <p:pic>
        <p:nvPicPr>
          <p:cNvPr id="12" name="Imagen 12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9931400" y="5892800"/>
            <a:ext cx="1498600" cy="482600"/>
          </a:xfrm>
          <a:prstGeom prst="rect">
            <a:avLst/>
          </a:prstGeom>
        </p:spPr>
      </p:pic>
      <p:sp>
        <p:nvSpPr>
          <p:cNvPr id="13" name="Antetítulo"/>
          <p:cNvSpPr/>
          <p:nvPr/>
        </p:nvSpPr>
        <p:spPr>
          <a:xfrm>
            <a:off x="762000" y="1905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Trend &amp; Tech 2026 · </a:t>
            </a:r>
            <a:endParaRPr lang="es-CO" sz="2000" dirty="0"/>
          </a:p>
        </p:txBody>
      </p:sp>
      <p:sp>
        <p:nvSpPr>
          <p:cNvPr id="14" name="Título"/>
          <p:cNvSpPr/>
          <p:nvPr/>
        </p:nvSpPr>
        <p:spPr>
          <a:xfrm>
            <a:off x="762000" y="2413000"/>
            <a:ext cx="676656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000" dirty="0" err="1">
                <a:solidFill>
                  <a:schemeClr val="bg1"/>
                </a:solidFill>
              </a:rPr>
              <a:t>Abitare</a:t>
            </a:r>
            <a:endParaRPr lang="es-CO" sz="5000" dirty="0">
              <a:solidFill>
                <a:schemeClr val="bg1"/>
              </a:solidFill>
            </a:endParaRPr>
          </a:p>
        </p:txBody>
      </p:sp>
      <p:sp>
        <p:nvSpPr>
          <p:cNvPr id="15" name="Subtítulo"/>
          <p:cNvSpPr/>
          <p:nvPr/>
        </p:nvSpPr>
        <p:spPr>
          <a:xfrm>
            <a:off x="762000" y="4089400"/>
            <a:ext cx="676656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dirty="0">
                <a:solidFill>
                  <a:srgbClr val="DCECF5"/>
                </a:solidFill>
                <a:latin typeface="Arial"/>
                <a:ea typeface="Arial"/>
                <a:cs typeface="Arial"/>
              </a:rPr>
              <a:t>Separa tu inmueble y paga el apartado desde tu billetera digital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>
                <a:solidFill>
                  <a:srgbClr val="DCECF5"/>
                </a:solidFill>
                <a:latin typeface="Arial"/>
                <a:cs typeface="Arial"/>
              </a:rPr>
              <a:t>felicoin</a:t>
            </a:r>
            <a:r>
              <a:rPr lang="es-CO" dirty="0">
                <a:solidFill>
                  <a:srgbClr val="DCECF5"/>
                </a:solidFill>
                <a:latin typeface="Arial"/>
                <a:cs typeface="Arial"/>
              </a:rPr>
              <a:t> . ONE GOAL</a:t>
            </a:r>
            <a:endParaRPr lang="es-CO" sz="1800" dirty="0"/>
          </a:p>
        </p:txBody>
      </p:sp>
      <p:sp>
        <p:nvSpPr>
          <p:cNvPr id="16" name="Docente"/>
          <p:cNvSpPr/>
          <p:nvPr/>
        </p:nvSpPr>
        <p:spPr>
          <a:xfrm>
            <a:off x="762000" y="5130800"/>
            <a:ext cx="863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Felipe Escobar · Negocios Internacionales   Darlyne Serrano · Lenguas Modernas</a:t>
            </a:r>
            <a:endParaRPr lang="es-CO" sz="1500" dirty="0"/>
          </a:p>
          <a:p>
            <a:r>
              <a:rPr sz="1500" dirty="0">
                <a:solidFill>
                  <a:srgbClr val="FFFFFF"/>
                </a:solidFill>
                <a:latin typeface="Arial"/>
              </a:rPr>
              <a:t>Matias Berdugo </a:t>
            </a:r>
            <a:r>
              <a:rPr lang="es-CO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Negocios Internacionales</a:t>
            </a:r>
            <a:r>
              <a:rPr sz="1500" dirty="0">
                <a:solidFill>
                  <a:srgbClr val="FFFFFF"/>
                </a:solidFill>
                <a:latin typeface="Arial"/>
              </a:rPr>
              <a:t> Thomas Rusinque</a:t>
            </a:r>
            <a:r>
              <a:rPr lang="es-CO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· Negocios Internacionales </a:t>
            </a:r>
            <a:endParaRPr sz="15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ie"/>
          <p:cNvSpPr/>
          <p:nvPr/>
        </p:nvSpPr>
        <p:spPr>
          <a:xfrm>
            <a:off x="762000" y="63119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Facultad de Ingeniería · Unidad de estudio transversal · Ciclo 4 de 2026</a:t>
            </a:r>
            <a:endParaRPr lang="es-CO" sz="1100" dirty="0"/>
          </a:p>
        </p:txBody>
      </p:sp>
      <p:sp>
        <p:nvSpPr>
          <p:cNvPr id="18" name="Espacio para logo"/>
          <p:cNvSpPr/>
          <p:nvPr/>
        </p:nvSpPr>
        <p:spPr>
          <a:xfrm>
            <a:off x="7726679" y="205740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logo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7" y="2167128"/>
            <a:ext cx="1609344" cy="1609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cs typeface="Arial"/>
              </a:rPr>
              <a:t>Agenda 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10 minutos de exposición y 5 de preguntas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Número"/>
          <p:cNvSpPr/>
          <p:nvPr/>
        </p:nvSpPr>
        <p:spPr>
          <a:xfrm>
            <a:off x="987552" y="181965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1691639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Portada</a:t>
            </a:r>
          </a:p>
        </p:txBody>
      </p:sp>
      <p:sp>
        <p:nvSpPr>
          <p:cNvPr id="20" name="Tarjeta"/>
          <p:cNvSpPr/>
          <p:nvPr/>
        </p:nvSpPr>
        <p:spPr>
          <a:xfrm>
            <a:off x="758952" y="269748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Número"/>
          <p:cNvSpPr/>
          <p:nvPr/>
        </p:nvSpPr>
        <p:spPr>
          <a:xfrm>
            <a:off x="987552" y="300837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28803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Organización</a:t>
            </a:r>
          </a:p>
        </p:txBody>
      </p:sp>
      <p:sp>
        <p:nvSpPr>
          <p:cNvPr id="24" name="Tarjeta"/>
          <p:cNvSpPr/>
          <p:nvPr/>
        </p:nvSpPr>
        <p:spPr>
          <a:xfrm>
            <a:off x="758952" y="388620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Número"/>
          <p:cNvSpPr/>
          <p:nvPr/>
        </p:nvSpPr>
        <p:spPr>
          <a:xfrm>
            <a:off x="987552" y="419709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069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Usuario</a:t>
            </a:r>
          </a:p>
        </p:txBody>
      </p:sp>
      <p:sp>
        <p:nvSpPr>
          <p:cNvPr id="28" name="Tarjeta"/>
          <p:cNvSpPr/>
          <p:nvPr/>
        </p:nvSpPr>
        <p:spPr>
          <a:xfrm>
            <a:off x="758952" y="507492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Número"/>
          <p:cNvSpPr/>
          <p:nvPr/>
        </p:nvSpPr>
        <p:spPr>
          <a:xfrm>
            <a:off x="987552" y="538581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525780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Problema</a:t>
            </a:r>
          </a:p>
        </p:txBody>
      </p:sp>
      <p:sp>
        <p:nvSpPr>
          <p:cNvPr id="32" name="Tarjeta"/>
          <p:cNvSpPr/>
          <p:nvPr/>
        </p:nvSpPr>
        <p:spPr>
          <a:xfrm>
            <a:off x="5180076" y="150876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Número"/>
          <p:cNvSpPr/>
          <p:nvPr/>
        </p:nvSpPr>
        <p:spPr>
          <a:xfrm>
            <a:off x="5408676" y="181965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3036" y="1691639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Metodología</a:t>
            </a:r>
          </a:p>
        </p:txBody>
      </p:sp>
      <p:sp>
        <p:nvSpPr>
          <p:cNvPr id="36" name="Tarjeta"/>
          <p:cNvSpPr/>
          <p:nvPr/>
        </p:nvSpPr>
        <p:spPr>
          <a:xfrm>
            <a:off x="5180076" y="269748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Número"/>
          <p:cNvSpPr/>
          <p:nvPr/>
        </p:nvSpPr>
        <p:spPr>
          <a:xfrm>
            <a:off x="5408676" y="300837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3036" y="28803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Solución</a:t>
            </a:r>
          </a:p>
        </p:txBody>
      </p:sp>
      <p:sp>
        <p:nvSpPr>
          <p:cNvPr id="40" name="Tarjeta"/>
          <p:cNvSpPr/>
          <p:nvPr/>
        </p:nvSpPr>
        <p:spPr>
          <a:xfrm>
            <a:off x="5180076" y="388620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Número"/>
          <p:cNvSpPr/>
          <p:nvPr/>
        </p:nvSpPr>
        <p:spPr>
          <a:xfrm>
            <a:off x="5408676" y="419709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03036" y="4069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Prototipo</a:t>
            </a:r>
          </a:p>
        </p:txBody>
      </p:sp>
      <p:sp>
        <p:nvSpPr>
          <p:cNvPr id="44" name="Tarjeta"/>
          <p:cNvSpPr/>
          <p:nvPr/>
        </p:nvSpPr>
        <p:spPr>
          <a:xfrm>
            <a:off x="5180076" y="507492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Número"/>
          <p:cNvSpPr/>
          <p:nvPr/>
        </p:nvSpPr>
        <p:spPr>
          <a:xfrm>
            <a:off x="5408676" y="538581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03036" y="525780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Validación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Abitare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2 · Organización · 0:45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docs/01-organizacion.md (issue 01).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 QUÉ SE DEDICA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210312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4345F"/>
                </a:solidFill>
                <a:latin typeface="Arial"/>
              </a:rPr>
              <a:t>Venta y arriendo de todo lo referente a propiedad raíz.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880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 QUIÉN ATIENDE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20040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4345F"/>
                </a:solidFill>
                <a:latin typeface="Arial"/>
              </a:rPr>
              <a:t>Vendedores y compradores de inmuebles.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97763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UBICACIÓN Y TAMAÑO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4297679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4345F"/>
                </a:solidFill>
                <a:latin typeface="Arial"/>
              </a:rPr>
              <a:t>Sin oficina física: trabaja con Marketplace, Metro Cuadrado, Finca Raíz y redes sociales.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5074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CONTACTO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5394959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4345F"/>
                </a:solidFill>
                <a:latin typeface="Arial"/>
              </a:rPr>
              <a:t>Asesor comercial de Abitare, familiar de la dueña de la inmobiliaria.</a:t>
            </a:r>
          </a:p>
        </p:txBody>
      </p:sp>
      <p:sp>
        <p:nvSpPr>
          <p:cNvPr id="26" name="Espacio para imagen"/>
          <p:cNvSpPr/>
          <p:nvPr/>
        </p:nvSpPr>
        <p:spPr>
          <a:xfrm>
            <a:off x="6108192" y="1508760"/>
            <a:ext cx="3310128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arjeta"/>
          <p:cNvSpPr/>
          <p:nvPr/>
        </p:nvSpPr>
        <p:spPr>
          <a:xfrm>
            <a:off x="6108192" y="4343400"/>
            <a:ext cx="331012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4526280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5212080"/>
            <a:ext cx="285292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plataformas digitales donde consigue clientes: Marketplace, Metro Cuadrado y Finca Raíz (entrevista)</a:t>
            </a:r>
          </a:p>
        </p:txBody>
      </p:sp>
      <p:pic>
        <p:nvPicPr>
          <p:cNvPr id="31" name="Picture 30" descr="o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55448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El asesor comercial: quién vive el problema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3 · Usuario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docs/04-usuario.md (issue 05, Plan de entrevista).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3749039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arjeta"/>
          <p:cNvSpPr/>
          <p:nvPr/>
        </p:nvSpPr>
        <p:spPr>
          <a:xfrm>
            <a:off x="4736592" y="1508760"/>
            <a:ext cx="468172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10912" y="17373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PERFIL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2103120"/>
            <a:ext cx="4087368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Asesor comercial · área de Ventas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Entrevista presencial · 26/10/2026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Conecta al vendedor con el cliente, cobra el apartado y lo acompaña en los trámites notariales</a:t>
            </a:r>
          </a:p>
        </p:txBody>
      </p:sp>
      <p:sp>
        <p:nvSpPr>
          <p:cNvPr id="22" name="Tarjeta"/>
          <p:cNvSpPr/>
          <p:nvPr/>
        </p:nvSpPr>
        <p:spPr>
          <a:xfrm>
            <a:off x="4736592" y="3703320"/>
            <a:ext cx="4681728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10912" y="3931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LO QUE NOS DIJO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4297679"/>
            <a:ext cx="408736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1">
                <a:solidFill>
                  <a:srgbClr val="14345F"/>
                </a:solidFill>
                <a:latin typeface="Arial"/>
              </a:rPr>
              <a:t>«Me preocupa el tiempo de espera de créditos, lo que puede retrasar comisiones.»</a:t>
            </a:r>
          </a:p>
          <a:p>
            <a:pPr algn="l">
              <a:spcAft>
                <a:spcPts val="1200"/>
              </a:spcAft>
            </a:pPr>
            <a:r>
              <a:rPr sz="1600" b="0" i="1">
                <a:solidFill>
                  <a:srgbClr val="14345F"/>
                </a:solidFill>
                <a:latin typeface="Arial"/>
              </a:rPr>
              <a:t>«Una herramienta para facilitar y agilizar los pagos.»</a:t>
            </a:r>
          </a:p>
        </p:txBody>
      </p:sp>
      <p:pic>
        <p:nvPicPr>
          <p:cNvPr id="25" name="Picture 24" descr="ases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1566747"/>
            <a:ext cx="3657599" cy="46389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Mapa de empatía del asesor comercial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3 · Usuario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issue 06 (Mapa de empatía)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1709928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PIENSA Y SIENTE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07568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«Me preocupa el tiempo de espera de créditos, lo que puede retrasar comisiones.»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«Cambiaría la seguridad a la hora de pactar la comisión.»</a:t>
            </a:r>
          </a:p>
        </p:txBody>
      </p:sp>
      <p:sp>
        <p:nvSpPr>
          <p:cNvPr id="20" name="Tarjeta"/>
          <p:cNvSpPr/>
          <p:nvPr/>
        </p:nvSpPr>
        <p:spPr>
          <a:xfrm>
            <a:off x="3706368" y="1508760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4968" y="1709928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4968" y="207568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«No es un lugar físico, se utilizan herramientas digitales como Marketplace, Metro Cuadrado y Finca Raíz.»</a:t>
            </a:r>
          </a:p>
        </p:txBody>
      </p:sp>
      <p:sp>
        <p:nvSpPr>
          <p:cNvPr id="23" name="Tarjeta"/>
          <p:cNvSpPr/>
          <p:nvPr/>
        </p:nvSpPr>
        <p:spPr>
          <a:xfrm>
            <a:off x="6653784" y="1508760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82384" y="1709928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OYE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2384" y="207568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«La labor del asesor comercial es conectar al vendedor con un cliente potencial.»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Recibe quejas y recomendaciones «de clientes y jefe».</a:t>
            </a:r>
          </a:p>
        </p:txBody>
      </p:sp>
      <p:sp>
        <p:nvSpPr>
          <p:cNvPr id="26" name="Tarjeta"/>
          <p:cNvSpPr/>
          <p:nvPr/>
        </p:nvSpPr>
        <p:spPr>
          <a:xfrm>
            <a:off x="758952" y="3977639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4178807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DICE Y HACE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54456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«Se le enseñó el apartamento, se hizo una oferta, se habló con el vendedor…»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«Dependiendo del problema se plantea la solución.»</a:t>
            </a:r>
          </a:p>
        </p:txBody>
      </p:sp>
      <p:sp>
        <p:nvSpPr>
          <p:cNvPr id="29" name="Tarjeta"/>
          <p:cNvSpPr/>
          <p:nvPr/>
        </p:nvSpPr>
        <p:spPr>
          <a:xfrm>
            <a:off x="3706368" y="3977639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34968" y="4178807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ESFUERZOS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4968" y="454456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«Los créditos se pueden demorar mucho en desembolsar.»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«El cliente y el comprador se contactaron entre sí y me robaron la comisión.»</a:t>
            </a:r>
          </a:p>
        </p:txBody>
      </p:sp>
      <p:sp>
        <p:nvSpPr>
          <p:cNvPr id="32" name="Tarjeta"/>
          <p:cNvSpPr/>
          <p:nvPr/>
        </p:nvSpPr>
        <p:spPr>
          <a:xfrm>
            <a:off x="6653784" y="3977639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82384" y="4178807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RESULTADOS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2384" y="454456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«Se tomarían menos precauciones y se confiaría más en las dos partes.»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«Una herramienta para facilitar y agilizar los pagos.»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Así funciona hoy el cobro del apartado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4 · Problema · 1:15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docs/03-proceso-actual.md (issue 04)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576072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arjeta"/>
          <p:cNvSpPr/>
          <p:nvPr/>
        </p:nvSpPr>
        <p:spPr>
          <a:xfrm>
            <a:off x="6748272" y="150876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Número"/>
          <p:cNvSpPr/>
          <p:nvPr/>
        </p:nvSpPr>
        <p:spPr>
          <a:xfrm>
            <a:off x="6931152" y="1709928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1709928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194560"/>
            <a:ext cx="23042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Se demora: el asesor revisa a mano cada comprobante y la reserva espera.</a:t>
            </a:r>
          </a:p>
        </p:txBody>
      </p:sp>
      <p:sp>
        <p:nvSpPr>
          <p:cNvPr id="23" name="Tarjeta"/>
          <p:cNvSpPr/>
          <p:nvPr/>
        </p:nvSpPr>
        <p:spPr>
          <a:xfrm>
            <a:off x="6748272" y="315468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Número"/>
          <p:cNvSpPr/>
          <p:nvPr/>
        </p:nvSpPr>
        <p:spPr>
          <a:xfrm>
            <a:off x="6931152" y="3355848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3355848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840480"/>
            <a:ext cx="23042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Se repite: el inmueble no queda bloqueado y se ofrece a dos clientes.</a:t>
            </a:r>
          </a:p>
        </p:txBody>
      </p:sp>
      <p:sp>
        <p:nvSpPr>
          <p:cNvPr id="27" name="Tarjeta"/>
          <p:cNvSpPr/>
          <p:nvPr/>
        </p:nvSpPr>
        <p:spPr>
          <a:xfrm>
            <a:off x="6748272" y="480060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Número"/>
          <p:cNvSpPr/>
          <p:nvPr/>
        </p:nvSpPr>
        <p:spPr>
          <a:xfrm>
            <a:off x="6931152" y="5001768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1" y="5001768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5486400"/>
            <a:ext cx="23042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Se repite: si el pago no aparece, hay que pedir otra vez el comprobante.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1783080"/>
            <a:ext cx="960120" cy="34747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00807F"/>
                </a:solidFill>
                <a:latin typeface="Arial"/>
              </a:rPr>
              <a:t>Cliente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1691640"/>
            <a:ext cx="41605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14345F"/>
                </a:solidFill>
                <a:latin typeface="Arial"/>
              </a:rPr>
              <a:t>Decide separar el inmueble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4087368" y="2258568"/>
            <a:ext cx="201168" cy="182880"/>
          </a:xfrm>
          <a:prstGeom prst="down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05840" y="2569464"/>
            <a:ext cx="960120" cy="34747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00807F"/>
                </a:solidFill>
                <a:latin typeface="Arial"/>
              </a:rPr>
              <a:t>Cliente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03120" y="2478024"/>
            <a:ext cx="41605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14345F"/>
                </a:solidFill>
                <a:latin typeface="Arial"/>
              </a:rPr>
              <a:t>Hace la transferencia bancaria del apartado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4087368" y="3044952"/>
            <a:ext cx="201168" cy="182880"/>
          </a:xfrm>
          <a:prstGeom prst="down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05840" y="3355848"/>
            <a:ext cx="960120" cy="34747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00807F"/>
                </a:solidFill>
                <a:latin typeface="Arial"/>
              </a:rPr>
              <a:t>Cliente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03120" y="3264408"/>
            <a:ext cx="41605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14345F"/>
                </a:solidFill>
                <a:latin typeface="Arial"/>
              </a:rPr>
              <a:t>Envía el comprobante por WhatsApp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4087368" y="3831336"/>
            <a:ext cx="201168" cy="182880"/>
          </a:xfrm>
          <a:prstGeom prst="down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05840" y="4142232"/>
            <a:ext cx="960120" cy="34747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00807F"/>
                </a:solidFill>
                <a:latin typeface="Arial"/>
              </a:rPr>
              <a:t>Asesor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03120" y="4050792"/>
            <a:ext cx="41605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14345F"/>
                </a:solidFill>
                <a:latin typeface="Arial"/>
              </a:rPr>
              <a:t>Revisa a mano el comprobante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4087368" y="4617720"/>
            <a:ext cx="201168" cy="182880"/>
          </a:xfrm>
          <a:prstGeom prst="down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Diamond 42"/>
          <p:cNvSpPr/>
          <p:nvPr/>
        </p:nvSpPr>
        <p:spPr>
          <a:xfrm>
            <a:off x="3291840" y="4837176"/>
            <a:ext cx="1783080" cy="640080"/>
          </a:xfrm>
          <a:prstGeom prst="diamond">
            <a:avLst/>
          </a:prstGeom>
          <a:solidFill>
            <a:srgbClr val="FFF6DB"/>
          </a:solidFill>
          <a:ln w="9525">
            <a:solidFill>
              <a:srgbClr val="E0B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4345F"/>
                </a:solidFill>
                <a:latin typeface="Arial"/>
              </a:rPr>
              <a:t>¿Llegó el pago?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" y="5614416"/>
            <a:ext cx="2514600" cy="502920"/>
          </a:xfrm>
          <a:prstGeom prst="roundRect">
            <a:avLst/>
          </a:prstGeom>
          <a:solidFill>
            <a:srgbClr val="E8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4345F"/>
                </a:solidFill>
                <a:latin typeface="Arial"/>
              </a:rPr>
              <a:t>Sí → confirma el apartado al cliente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5614416"/>
            <a:ext cx="2514600" cy="502920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4345F"/>
                </a:solidFill>
                <a:latin typeface="Arial"/>
              </a:rPr>
              <a:t>No → pide de nuevo el comprobante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El problema en una frase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4 · Problema · 1:15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8659368" cy="23774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6152" y="1508760"/>
            <a:ext cx="7744968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4345F"/>
                </a:solidFill>
                <a:latin typeface="Arial"/>
              </a:rPr>
              <a:t>«En Abitare, el asesor comercial necesita confirmar el pago del apartado de cada inmueble porque hoy depende de transferencias bancarias y comprobantes enviados por WhatsApp que verifica a mano, lo que causa demoras en la reserva e inmuebles ofrecidos a dos clientes.»</a:t>
            </a:r>
          </a:p>
        </p:txBody>
      </p:sp>
      <p:sp>
        <p:nvSpPr>
          <p:cNvPr id="18" name="Tarjeta"/>
          <p:cNvSpPr/>
          <p:nvPr/>
        </p:nvSpPr>
        <p:spPr>
          <a:xfrm>
            <a:off x="758952" y="4114800"/>
            <a:ext cx="42382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297680"/>
            <a:ext cx="37810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983480"/>
            <a:ext cx="37810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clientes a los que se puede ofrecer el mismo inmueble mientras se verifica el pago</a:t>
            </a:r>
          </a:p>
        </p:txBody>
      </p:sp>
      <p:sp>
        <p:nvSpPr>
          <p:cNvPr id="21" name="Tarjeta"/>
          <p:cNvSpPr/>
          <p:nvPr/>
        </p:nvSpPr>
        <p:spPr>
          <a:xfrm>
            <a:off x="5180076" y="4114800"/>
            <a:ext cx="42382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08676" y="4297680"/>
            <a:ext cx="37810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8676" y="4983480"/>
            <a:ext cx="37810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pasos manuales antes de confirmar un apartado: transferencia, comprobante por WhatsApp y revisión a mano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Canvas del proyecto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4 · Problema · 1:15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docs/05-canvas.md (issue 08)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60350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arjeta"/>
          <p:cNvSpPr/>
          <p:nvPr/>
        </p:nvSpPr>
        <p:spPr>
          <a:xfrm>
            <a:off x="7022592" y="1508760"/>
            <a:ext cx="239572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1192" y="17830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NECESIDAD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148839"/>
            <a:ext cx="193852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Confirmar el pago del apartado sin revisar comprobantes a mano y sin ofrecer el mismo inmueble a dos clientes.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38862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PROPUESTA DE VALOR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425196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Menos carga operativa y más tranquilidad: el pago queda respaldado de forma segura y transparente.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1645920"/>
            <a:ext cx="2697480" cy="1033271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t"/>
          <a:lstStyle/>
          <a:p>
            <a:pPr algn="l"/>
            <a:r>
              <a:rPr sz="900" b="1">
                <a:solidFill>
                  <a:srgbClr val="00807F"/>
                </a:solidFill>
                <a:latin typeface="Arial"/>
              </a:rPr>
              <a:t>1 · PROBLEMA DE NEGOCIO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3D4A5C"/>
                </a:solidFill>
                <a:latin typeface="Arial"/>
              </a:rPr>
              <a:t>El recaudo del pago y el cierre son lentos y generan desconfianza en los clientes.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21608" y="1645920"/>
            <a:ext cx="2697480" cy="1033271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t"/>
          <a:lstStyle/>
          <a:p>
            <a:pPr algn="l"/>
            <a:r>
              <a:rPr sz="900" b="1">
                <a:solidFill>
                  <a:srgbClr val="00807F"/>
                </a:solidFill>
                <a:latin typeface="Arial"/>
              </a:rPr>
              <a:t>2 · RESULTADOS DE NEGOCIO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3D4A5C"/>
                </a:solidFill>
                <a:latin typeface="Arial"/>
              </a:rPr>
              <a:t>Menos tiempo para confirmar pagos, cero errores o fraudes y clientes más seguros.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2788920"/>
            <a:ext cx="2697480" cy="1033271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t"/>
          <a:lstStyle/>
          <a:p>
            <a:pPr algn="l"/>
            <a:r>
              <a:rPr sz="900" b="1">
                <a:solidFill>
                  <a:srgbClr val="00807F"/>
                </a:solidFill>
                <a:latin typeface="Arial"/>
              </a:rPr>
              <a:t>3 · USUARIOS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3D4A5C"/>
                </a:solidFill>
                <a:latin typeface="Arial"/>
              </a:rPr>
              <a:t>Asesor comercial de Abitare, del primer contacto a la validación del pago.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21608" y="2788920"/>
            <a:ext cx="2697480" cy="1033271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t"/>
          <a:lstStyle/>
          <a:p>
            <a:pPr algn="l"/>
            <a:r>
              <a:rPr sz="900" b="1">
                <a:solidFill>
                  <a:srgbClr val="00807F"/>
                </a:solidFill>
                <a:latin typeface="Arial"/>
              </a:rPr>
              <a:t>4 · BENEFICIOS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3D4A5C"/>
                </a:solidFill>
                <a:latin typeface="Arial"/>
              </a:rPr>
              <a:t>Menos verificaciones manuales, más tranquilidad y cierres más rápidos.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931920"/>
            <a:ext cx="2697480" cy="1033271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t"/>
          <a:lstStyle/>
          <a:p>
            <a:pPr algn="l"/>
            <a:r>
              <a:rPr sz="900" b="1">
                <a:solidFill>
                  <a:srgbClr val="00807F"/>
                </a:solidFill>
                <a:latin typeface="Arial"/>
              </a:rPr>
              <a:t>5 · SOLUCIONES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3D4A5C"/>
                </a:solidFill>
                <a:latin typeface="Arial"/>
              </a:rPr>
              <a:t>Pasarela de reserva digital, fideicomiso digital y portal de seguimiento.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21608" y="3931920"/>
            <a:ext cx="2697480" cy="1033271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t"/>
          <a:lstStyle/>
          <a:p>
            <a:pPr algn="l"/>
            <a:r>
              <a:rPr sz="900" b="1">
                <a:solidFill>
                  <a:srgbClr val="00807F"/>
                </a:solidFill>
                <a:latin typeface="Arial"/>
              </a:rPr>
              <a:t>6 · HIPÓTESIS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3D4A5C"/>
                </a:solidFill>
                <a:latin typeface="Arial"/>
              </a:rPr>
              <a:t>Si el cliente paga con cripto y queda registrado en un contrato inteligente, recibir el apartado será más fácil.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074920"/>
            <a:ext cx="2697480" cy="1033271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t"/>
          <a:lstStyle/>
          <a:p>
            <a:pPr algn="l"/>
            <a:r>
              <a:rPr sz="900" b="1">
                <a:solidFill>
                  <a:srgbClr val="00807F"/>
                </a:solidFill>
                <a:latin typeface="Arial"/>
              </a:rPr>
              <a:t>7 · LO MÁS IMPORTANTE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3D4A5C"/>
                </a:solidFill>
                <a:latin typeface="Arial"/>
              </a:rPr>
              <a:t>Validar si los compradores confían en pagar sumas grandes por una plataforma digital.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21608" y="5074920"/>
            <a:ext cx="2697480" cy="1033271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t"/>
          <a:lstStyle/>
          <a:p>
            <a:pPr algn="l"/>
            <a:r>
              <a:rPr sz="900" b="1">
                <a:solidFill>
                  <a:srgbClr val="00807F"/>
                </a:solidFill>
                <a:latin typeface="Arial"/>
              </a:rPr>
              <a:t>8 · EL MENOR TRABAJO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3D4A5C"/>
                </a:solidFill>
                <a:latin typeface="Arial"/>
              </a:rPr>
              <a:t>Que el asesor use la v0.1 en red de prueba y diga si ve registrado el pago.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Cómo trabajamos: Lean UX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5 · Metodología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docs/02-planeacion.md (issue 02)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Número"/>
          <p:cNvSpPr/>
          <p:nvPr/>
        </p:nvSpPr>
        <p:spPr>
          <a:xfrm>
            <a:off x="987552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Idear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Entrevista al asesor (26/10), BPMN del proceso y mapa de empatía</a:t>
            </a:r>
          </a:p>
        </p:txBody>
      </p:sp>
      <p:sp>
        <p:nvSpPr>
          <p:cNvPr id="21" name="Flecha"/>
          <p:cNvSpPr/>
          <p:nvPr/>
        </p:nvSpPr>
        <p:spPr>
          <a:xfrm>
            <a:off x="2670048" y="356616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arjeta"/>
          <p:cNvSpPr/>
          <p:nvPr/>
        </p:nvSpPr>
        <p:spPr>
          <a:xfrm>
            <a:off x="3026664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Número"/>
          <p:cNvSpPr/>
          <p:nvPr/>
        </p:nvSpPr>
        <p:spPr>
          <a:xfrm>
            <a:off x="3255264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Pensar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5264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Lean UX Canvas, hipótesis y requisitos del prototipo</a:t>
            </a:r>
          </a:p>
        </p:txBody>
      </p:sp>
      <p:sp>
        <p:nvSpPr>
          <p:cNvPr id="26" name="Flecha"/>
          <p:cNvSpPr/>
          <p:nvPr/>
        </p:nvSpPr>
        <p:spPr>
          <a:xfrm>
            <a:off x="4937760" y="356616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arjeta"/>
          <p:cNvSpPr/>
          <p:nvPr/>
        </p:nvSpPr>
        <p:spPr>
          <a:xfrm>
            <a:off x="5294376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Número"/>
          <p:cNvSpPr/>
          <p:nvPr/>
        </p:nvSpPr>
        <p:spPr>
          <a:xfrm>
            <a:off x="5522976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2976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Hacer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2976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Mockup web v0.1 y prototipo v0.5 en red de prueba</a:t>
            </a:r>
          </a:p>
        </p:txBody>
      </p:sp>
      <p:sp>
        <p:nvSpPr>
          <p:cNvPr id="31" name="Flecha"/>
          <p:cNvSpPr/>
          <p:nvPr/>
        </p:nvSpPr>
        <p:spPr>
          <a:xfrm>
            <a:off x="7205472" y="356616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arjeta"/>
          <p:cNvSpPr/>
          <p:nvPr/>
        </p:nvSpPr>
        <p:spPr>
          <a:xfrm>
            <a:off x="7562088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Número"/>
          <p:cNvSpPr/>
          <p:nvPr/>
        </p:nvSpPr>
        <p:spPr>
          <a:xfrm>
            <a:off x="7790688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Evaluar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0688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Prueba con el asesor y ajustes para la v1.0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623560"/>
            <a:ext cx="86593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B7A8F"/>
                </a:solidFill>
                <a:latin typeface="Arial"/>
              </a:rPr>
              <a:t>Construir lo mínimo, probarlo con el usuario y aprender antes de seguir.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Cómo gestionamos el proyecto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5 · Metodología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repositorio y tablero de GitHub Projects (issue 02)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2764536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Número"/>
          <p:cNvSpPr/>
          <p:nvPr/>
        </p:nvSpPr>
        <p:spPr>
          <a:xfrm>
            <a:off x="987552" y="173736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286000"/>
            <a:ext cx="2307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Repositorio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7432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TRABAJO COLABORATIVO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154680"/>
            <a:ext cx="230733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Documento en docs/, prototipo, pitch y evidencias en un solo lugar.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54879"/>
            <a:ext cx="23073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5440679"/>
            <a:ext cx="2307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commits del equipo</a:t>
            </a:r>
          </a:p>
        </p:txBody>
      </p:sp>
      <p:sp>
        <p:nvSpPr>
          <p:cNvPr id="24" name="Tarjeta"/>
          <p:cNvSpPr/>
          <p:nvPr/>
        </p:nvSpPr>
        <p:spPr>
          <a:xfrm>
            <a:off x="3706368" y="1508760"/>
            <a:ext cx="2764536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Número"/>
          <p:cNvSpPr/>
          <p:nvPr/>
        </p:nvSpPr>
        <p:spPr>
          <a:xfrm>
            <a:off x="3934968" y="173736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4968" y="2286000"/>
            <a:ext cx="2307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Tablero Kanban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4968" y="27432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GESTIÓN DEL PROYECTO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4968" y="3154680"/>
            <a:ext cx="230733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Cada tarea es un issue con responsable, etiqueta e hito; avanza de Backlog a Hecho.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4968" y="4754879"/>
            <a:ext cx="23073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4968" y="5440679"/>
            <a:ext cx="2307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issues cerrados con commit</a:t>
            </a:r>
          </a:p>
        </p:txBody>
      </p:sp>
      <p:sp>
        <p:nvSpPr>
          <p:cNvPr id="31" name="Tarjeta"/>
          <p:cNvSpPr/>
          <p:nvPr/>
        </p:nvSpPr>
        <p:spPr>
          <a:xfrm>
            <a:off x="6653784" y="1508760"/>
            <a:ext cx="2764536" cy="47548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Número"/>
          <p:cNvSpPr/>
          <p:nvPr/>
        </p:nvSpPr>
        <p:spPr>
          <a:xfrm>
            <a:off x="6882384" y="173736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2384" y="2286000"/>
            <a:ext cx="2307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2384" y="27432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PLANEACIÓN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2384" y="3154680"/>
            <a:ext cx="230733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Las fechas de cada issue arman el diagrama de Gantt.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2384" y="4754879"/>
            <a:ext cx="23073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2384" y="5440679"/>
            <a:ext cx="2307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semanas de trabajo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Plan del proyecto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5 · Metodología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docs/02-planeacion.md (issue 02)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621792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arjeta"/>
          <p:cNvSpPr/>
          <p:nvPr/>
        </p:nvSpPr>
        <p:spPr>
          <a:xfrm>
            <a:off x="7205472" y="1508760"/>
            <a:ext cx="22128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34071" y="1691639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2377439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issues cerrados con commit</a:t>
            </a:r>
          </a:p>
        </p:txBody>
      </p:sp>
      <p:sp>
        <p:nvSpPr>
          <p:cNvPr id="22" name="Tarjeta"/>
          <p:cNvSpPr/>
          <p:nvPr/>
        </p:nvSpPr>
        <p:spPr>
          <a:xfrm>
            <a:off x="7205472" y="3127248"/>
            <a:ext cx="22128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34071" y="3310128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1" y="399592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commits del equipo</a:t>
            </a:r>
          </a:p>
        </p:txBody>
      </p:sp>
      <p:sp>
        <p:nvSpPr>
          <p:cNvPr id="25" name="Tarjeta"/>
          <p:cNvSpPr/>
          <p:nvPr/>
        </p:nvSpPr>
        <p:spPr>
          <a:xfrm>
            <a:off x="7205472" y="4745736"/>
            <a:ext cx="22128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4071" y="4928616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1" y="5614416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semanas de trabajo</a:t>
            </a:r>
          </a:p>
        </p:txBody>
      </p:sp>
      <p:pic>
        <p:nvPicPr>
          <p:cNvPr id="28" name="Picture 27" descr="gant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2494573"/>
            <a:ext cx="6071616" cy="27832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De los puntos críticos a los requisitos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6 · Solución · 1:30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docs/07-prototipo.md (issue 07)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Número"/>
          <p:cNvSpPr/>
          <p:nvPr/>
        </p:nvSpPr>
        <p:spPr>
          <a:xfrm>
            <a:off x="987552" y="1737360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17373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2402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El asesor revisa a mano cada comprobante de WhatsApp.</a:t>
            </a:r>
          </a:p>
        </p:txBody>
      </p:sp>
      <p:sp>
        <p:nvSpPr>
          <p:cNvPr id="21" name="Flecha"/>
          <p:cNvSpPr/>
          <p:nvPr/>
        </p:nvSpPr>
        <p:spPr>
          <a:xfrm>
            <a:off x="4690872" y="2057400"/>
            <a:ext cx="54864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arjeta"/>
          <p:cNvSpPr/>
          <p:nvPr/>
        </p:nvSpPr>
        <p:spPr>
          <a:xfrm>
            <a:off x="5422392" y="1508760"/>
            <a:ext cx="399592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50992" y="1737360"/>
            <a:ext cx="3538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2"/>
                </a:solidFill>
                <a:latin typeface="Arial"/>
              </a:rPr>
              <a:t>Requisito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224028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El contrato inteligente confirma el pago y el asesor ve la confirmación.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310896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Número"/>
          <p:cNvSpPr/>
          <p:nvPr/>
        </p:nvSpPr>
        <p:spPr>
          <a:xfrm>
            <a:off x="987552" y="3337560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3375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38404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El inmueble no queda bloqueado y se ofrece a dos clientes.</a:t>
            </a:r>
          </a:p>
        </p:txBody>
      </p:sp>
      <p:sp>
        <p:nvSpPr>
          <p:cNvPr id="29" name="Flecha"/>
          <p:cNvSpPr/>
          <p:nvPr/>
        </p:nvSpPr>
        <p:spPr>
          <a:xfrm>
            <a:off x="4690872" y="3657600"/>
            <a:ext cx="54864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arjeta"/>
          <p:cNvSpPr/>
          <p:nvPr/>
        </p:nvSpPr>
        <p:spPr>
          <a:xfrm>
            <a:off x="5422392" y="3108960"/>
            <a:ext cx="399592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50992" y="3337560"/>
            <a:ext cx="3538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2"/>
                </a:solidFill>
                <a:latin typeface="Arial"/>
              </a:rPr>
              <a:t>Requisito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384048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Al confirmar el pago, el inmueble queda bloqueado para otros clientes.</a:t>
            </a:r>
          </a:p>
        </p:txBody>
      </p:sp>
      <p:sp>
        <p:nvSpPr>
          <p:cNvPr id="33" name="Tarjeta"/>
          <p:cNvSpPr/>
          <p:nvPr/>
        </p:nvSpPr>
        <p:spPr>
          <a:xfrm>
            <a:off x="758952" y="470916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Número"/>
          <p:cNvSpPr/>
          <p:nvPr/>
        </p:nvSpPr>
        <p:spPr>
          <a:xfrm>
            <a:off x="987552" y="4937760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49377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4406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Si no aparece el pago, hay que pedir otra vez el comprobante.</a:t>
            </a:r>
          </a:p>
        </p:txBody>
      </p:sp>
      <p:sp>
        <p:nvSpPr>
          <p:cNvPr id="37" name="Flecha"/>
          <p:cNvSpPr/>
          <p:nvPr/>
        </p:nvSpPr>
        <p:spPr>
          <a:xfrm>
            <a:off x="4690872" y="5257800"/>
            <a:ext cx="54864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arjeta"/>
          <p:cNvSpPr/>
          <p:nvPr/>
        </p:nvSpPr>
        <p:spPr>
          <a:xfrm>
            <a:off x="5422392" y="4709160"/>
            <a:ext cx="399592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50992" y="4937760"/>
            <a:ext cx="3538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2"/>
                </a:solidFill>
                <a:latin typeface="Arial"/>
              </a:rPr>
              <a:t>Requisito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992" y="544068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El pago, el inmueble y la fecha quedan registrados en el contrato.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Apartado con cripto: cómo funciona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6 · Solución · 1:30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docs/06-solucion.md (issue 09)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576072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arjeta"/>
          <p:cNvSpPr/>
          <p:nvPr/>
        </p:nvSpPr>
        <p:spPr>
          <a:xfrm>
            <a:off x="6748272" y="1508760"/>
            <a:ext cx="267004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76872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LA SOLUCIÓN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148839"/>
            <a:ext cx="221284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El cliente paga el apartado con cripto (bitcoin o USDT) desde su billetera. Un contrato inteligente confirma el pago y bloquea el inmueble.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4160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TECNOLOGÍA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4526279"/>
            <a:ext cx="221284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Blockchain en red de prueba (Ethereum Sepolia o Bitcoin testnet), billetera tipo MetaMask y un contrato inteligente que valida el pago.</a:t>
            </a:r>
          </a:p>
        </p:txBody>
      </p:sp>
      <p:pic>
        <p:nvPicPr>
          <p:cNvPr id="24" name="Picture 23" descr="bpmn_p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2895421"/>
            <a:ext cx="5614415" cy="19815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Antes y después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6 · Solución · 1:30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4238244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1783080"/>
            <a:ext cx="35981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6B7A8F"/>
                </a:solidFill>
                <a:latin typeface="Arial"/>
              </a:rPr>
              <a:t>Hoy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51460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Pagar el apartado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Transferencia bancaria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0332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Enviar el soporte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El cliente manda el comprobante por WhatsApp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89204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Confirmar la reserva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El asesor verifica a mano; el inmueble sigue libre</a:t>
            </a:r>
          </a:p>
        </p:txBody>
      </p:sp>
      <p:sp>
        <p:nvSpPr>
          <p:cNvPr id="21" name="Tarjeta"/>
          <p:cNvSpPr/>
          <p:nvPr/>
        </p:nvSpPr>
        <p:spPr>
          <a:xfrm>
            <a:off x="5180076" y="1508760"/>
            <a:ext cx="4238244" cy="47548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00116" y="1783080"/>
            <a:ext cx="35981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3DA2"/>
                </a:solidFill>
                <a:latin typeface="Arial"/>
              </a:rPr>
              <a:t>Con pago en cripto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0116" y="251460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Pagar el apartado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Con cripto desde MetaMask (red de prueba)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0116" y="370332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Enviar el soporte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El contrato registra el pago, el inmueble y la fecha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0116" y="489204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Confirmar la reserva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El asesor ve la confirmación y el inmueble queda bloqueado</a:t>
            </a:r>
          </a:p>
        </p:txBody>
      </p:sp>
      <p:sp>
        <p:nvSpPr>
          <p:cNvPr id="26" name="Flecha"/>
          <p:cNvSpPr/>
          <p:nvPr/>
        </p:nvSpPr>
        <p:spPr>
          <a:xfrm>
            <a:off x="4841748" y="3749039"/>
            <a:ext cx="45720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Hipótesis y alcance del prototipo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docs/07-prototipo.md (issue 07).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8659368" cy="14630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1508760"/>
            <a:ext cx="7927848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4345F"/>
                </a:solidFill>
                <a:latin typeface="Arial"/>
              </a:rPr>
              <a:t>Creemos que el asesor comercial de Abitare podrá recibir el pago del apartado de forma más fácil si usa una página donde el cliente paga con criptomonedas desde su billetera y el pago queda registrado en un contrato inteligente. Sabremos que es cierto si, en red de prueba, el asesor recibe y ve registrado el pago de un apartado sin ayuda.</a:t>
            </a:r>
          </a:p>
        </p:txBody>
      </p:sp>
      <p:sp>
        <p:nvSpPr>
          <p:cNvPr id="19" name="Tarjeta"/>
          <p:cNvSpPr/>
          <p:nvPr/>
        </p:nvSpPr>
        <p:spPr>
          <a:xfrm>
            <a:off x="758952" y="3200400"/>
            <a:ext cx="2764536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4290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BE6A"/>
                </a:solidFill>
                <a:latin typeface="Arial"/>
              </a:rPr>
              <a:t>DEBE TENER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840479"/>
            <a:ext cx="230733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Registrar el apartado (cliente, inmueble, valor)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Conectar la billetera tipo MetaMask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Pagar el apartado y ver si quedó confirmado</a:t>
            </a:r>
          </a:p>
        </p:txBody>
      </p:sp>
      <p:sp>
        <p:nvSpPr>
          <p:cNvPr id="22" name="Tarjeta"/>
          <p:cNvSpPr/>
          <p:nvPr/>
        </p:nvSpPr>
        <p:spPr>
          <a:xfrm>
            <a:off x="3706368" y="3200400"/>
            <a:ext cx="2764536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34968" y="34290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PUEDE ESPERAR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4968" y="3840479"/>
            <a:ext cx="230733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Portal de seguimiento para clientes</a:t>
            </a:r>
          </a:p>
        </p:txBody>
      </p:sp>
      <p:sp>
        <p:nvSpPr>
          <p:cNvPr id="25" name="Tarjeta"/>
          <p:cNvSpPr/>
          <p:nvPr/>
        </p:nvSpPr>
        <p:spPr>
          <a:xfrm>
            <a:off x="6653784" y="3200400"/>
            <a:ext cx="2764536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82384" y="34290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B7A8F"/>
                </a:solidFill>
                <a:latin typeface="Arial"/>
              </a:rPr>
              <a:t>NO SE HACE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2384" y="3840479"/>
            <a:ext cx="230733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Pagos con dinero real (solo red de prueba)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Pasarela PSE o tarjeta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Fideicomiso digital (escrow)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Diseño: wireframes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docs/07-prototipos.md (issue 07), pantallas de la v0.1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2703576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577840"/>
            <a:ext cx="2703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Registra el apartado: cliente, inmueble y valor</a:t>
            </a:r>
          </a:p>
        </p:txBody>
      </p:sp>
      <p:sp>
        <p:nvSpPr>
          <p:cNvPr id="20" name="Espacio para imagen"/>
          <p:cNvSpPr/>
          <p:nvPr/>
        </p:nvSpPr>
        <p:spPr>
          <a:xfrm>
            <a:off x="3736848" y="1508760"/>
            <a:ext cx="2703576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6848" y="5577840"/>
            <a:ext cx="2703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Conecta la billetera tipo MetaMask en red de prueba</a:t>
            </a:r>
          </a:p>
        </p:txBody>
      </p:sp>
      <p:sp>
        <p:nvSpPr>
          <p:cNvPr id="23" name="Espacio para imagen"/>
          <p:cNvSpPr/>
          <p:nvPr/>
        </p:nvSpPr>
        <p:spPr>
          <a:xfrm>
            <a:off x="6714744" y="1508760"/>
            <a:ext cx="2703576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14744" y="5577840"/>
            <a:ext cx="2703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Paga el apartado y ve si quedó confirmado</a:t>
            </a:r>
          </a:p>
        </p:txBody>
      </p:sp>
      <p:pic>
        <p:nvPicPr>
          <p:cNvPr id="26" name="Picture 25" descr="w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1621416"/>
            <a:ext cx="2557272" cy="3706607"/>
          </a:xfrm>
          <a:prstGeom prst="rect">
            <a:avLst/>
          </a:prstGeom>
        </p:spPr>
      </p:pic>
      <p:pic>
        <p:nvPicPr>
          <p:cNvPr id="27" name="Picture 26" descr="wf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1621416"/>
            <a:ext cx="2557272" cy="3706607"/>
          </a:xfrm>
          <a:prstGeom prst="rect">
            <a:avLst/>
          </a:prstGeom>
        </p:spPr>
      </p:pic>
      <p:pic>
        <p:nvPicPr>
          <p:cNvPr id="28" name="Picture 27" descr="wf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7896" y="1621416"/>
            <a:ext cx="2557272" cy="37066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Del boceto al prototipo funcional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issues 10, 11 y 16, con las capturas de cada versión.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2612136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937760"/>
            <a:ext cx="261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3DA2"/>
                </a:solidFill>
                <a:latin typeface="Arial"/>
              </a:rPr>
              <a:t>v0.1 · Semana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349240"/>
            <a:ext cx="2612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Mockup web navegable, sin datos</a:t>
            </a:r>
          </a:p>
        </p:txBody>
      </p:sp>
      <p:sp>
        <p:nvSpPr>
          <p:cNvPr id="21" name="Flecha"/>
          <p:cNvSpPr/>
          <p:nvPr/>
        </p:nvSpPr>
        <p:spPr>
          <a:xfrm>
            <a:off x="3425952" y="301752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spacio para imagen"/>
          <p:cNvSpPr/>
          <p:nvPr/>
        </p:nvSpPr>
        <p:spPr>
          <a:xfrm>
            <a:off x="3782568" y="1508760"/>
            <a:ext cx="2612136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82568" y="4937760"/>
            <a:ext cx="261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3DA2"/>
                </a:solidFill>
                <a:latin typeface="Arial"/>
              </a:rPr>
              <a:t>v0.5 · Semana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2568" y="5349240"/>
            <a:ext cx="2612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Flujo principal: registrar, conectar y pagar</a:t>
            </a:r>
          </a:p>
        </p:txBody>
      </p:sp>
      <p:sp>
        <p:nvSpPr>
          <p:cNvPr id="26" name="Flecha"/>
          <p:cNvSpPr/>
          <p:nvPr/>
        </p:nvSpPr>
        <p:spPr>
          <a:xfrm>
            <a:off x="6449568" y="301752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spacio para imagen"/>
          <p:cNvSpPr/>
          <p:nvPr/>
        </p:nvSpPr>
        <p:spPr>
          <a:xfrm>
            <a:off x="6806184" y="1508760"/>
            <a:ext cx="2612136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06184" y="4937760"/>
            <a:ext cx="261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3DA2"/>
                </a:solidFill>
                <a:latin typeface="Arial"/>
              </a:rPr>
              <a:t>v1.0 · Semana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6184" y="5349240"/>
            <a:ext cx="2612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Ajustada tras la prueba con el asesor</a:t>
            </a:r>
          </a:p>
        </p:txBody>
      </p:sp>
      <p:pic>
        <p:nvPicPr>
          <p:cNvPr id="31" name="Picture 30" descr="v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2461165"/>
            <a:ext cx="2465832" cy="1387030"/>
          </a:xfrm>
          <a:prstGeom prst="rect">
            <a:avLst/>
          </a:prstGeom>
        </p:spPr>
      </p:pic>
      <p:pic>
        <p:nvPicPr>
          <p:cNvPr id="32" name="Picture 31" descr="v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288" y="1568228"/>
            <a:ext cx="2520696" cy="3172904"/>
          </a:xfrm>
          <a:prstGeom prst="rect">
            <a:avLst/>
          </a:prstGeom>
        </p:spPr>
      </p:pic>
      <p:pic>
        <p:nvPicPr>
          <p:cNvPr id="33" name="Picture 32" descr="v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1904" y="1568228"/>
            <a:ext cx="2520696" cy="31729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Demostración en vivo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Número"/>
          <p:cNvSpPr/>
          <p:nvPr/>
        </p:nvSpPr>
        <p:spPr>
          <a:xfrm>
            <a:off x="987552" y="201168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1691639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Paso 1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Elegir un inmueble disponible en la página</a:t>
            </a:r>
          </a:p>
        </p:txBody>
      </p:sp>
      <p:sp>
        <p:nvSpPr>
          <p:cNvPr id="19" name="Tarjeta"/>
          <p:cNvSpPr/>
          <p:nvPr/>
        </p:nvSpPr>
        <p:spPr>
          <a:xfrm>
            <a:off x="758952" y="31089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Número"/>
          <p:cNvSpPr/>
          <p:nvPr/>
        </p:nvSpPr>
        <p:spPr>
          <a:xfrm>
            <a:off x="987552" y="361188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329184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Paso 2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Conectar la billetera MetaMask en la red de prueba</a:t>
            </a:r>
          </a:p>
        </p:txBody>
      </p:sp>
      <p:sp>
        <p:nvSpPr>
          <p:cNvPr id="22" name="Tarjeta"/>
          <p:cNvSpPr/>
          <p:nvPr/>
        </p:nvSpPr>
        <p:spPr>
          <a:xfrm>
            <a:off x="758952" y="47091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Número"/>
          <p:cNvSpPr/>
          <p:nvPr/>
        </p:nvSpPr>
        <p:spPr>
          <a:xfrm>
            <a:off x="987552" y="521208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89204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Paso 3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Pagar el apartado: queda confirmado y el inmueble bloqueado</a:t>
            </a:r>
          </a:p>
        </p:txBody>
      </p:sp>
      <p:sp>
        <p:nvSpPr>
          <p:cNvPr id="25" name="Espacio para imagen"/>
          <p:cNvSpPr/>
          <p:nvPr/>
        </p:nvSpPr>
        <p:spPr>
          <a:xfrm>
            <a:off x="6108192" y="1508760"/>
            <a:ext cx="3310128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v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016948"/>
            <a:ext cx="3090672" cy="17385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108192" y="5074920"/>
            <a:ext cx="33101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3D4A5C"/>
                </a:solidFill>
                <a:latin typeface="Arial"/>
              </a:rPr>
              <a:t>Respaldo si falla la demo: mockup v0.1 y repositorio github.com/felipeesco/Grupo-1-One-goal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Prueba con el usuario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8 · Validación · 1:30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docs/08-validacion.md (issue 15).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17099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MÉTODO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2075688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Prueba de usabilidad con tareas: vemos si el asesor logra recibir y ver registrado el pago sin ayuda, como dice la hipótesis.</a:t>
            </a:r>
          </a:p>
        </p:txBody>
      </p:sp>
      <p:sp>
        <p:nvSpPr>
          <p:cNvPr id="20" name="Tarjeta"/>
          <p:cNvSpPr/>
          <p:nvPr/>
        </p:nvSpPr>
        <p:spPr>
          <a:xfrm>
            <a:off x="758952" y="31089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1" y="33101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PARTICIPANTES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675887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1 · el asesor comercial de Abitare (el usuario que vive el problema)</a:t>
            </a:r>
          </a:p>
        </p:txBody>
      </p:sp>
      <p:sp>
        <p:nvSpPr>
          <p:cNvPr id="23" name="Tarjeta"/>
          <p:cNvSpPr/>
          <p:nvPr/>
        </p:nvSpPr>
        <p:spPr>
          <a:xfrm>
            <a:off x="758952" y="47091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3271" y="49103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TAREAS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5276088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Registrar un apartado, conectar la billetera y pagar en red de prueba.</a:t>
            </a:r>
          </a:p>
        </p:txBody>
      </p:sp>
      <p:sp>
        <p:nvSpPr>
          <p:cNvPr id="26" name="Espacio para imagen"/>
          <p:cNvSpPr/>
          <p:nvPr/>
        </p:nvSpPr>
        <p:spPr>
          <a:xfrm>
            <a:off x="6108192" y="1508760"/>
            <a:ext cx="3310128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7" name="Picture 26" descr="prue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574435"/>
            <a:ext cx="3218688" cy="46235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Resultados de la prueba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8 · Validación · 1:30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2749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1691639"/>
            <a:ext cx="22920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— /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377439"/>
            <a:ext cx="2292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tareas logradas · meta: 3 de 3 sin ayuda</a:t>
            </a:r>
          </a:p>
        </p:txBody>
      </p:sp>
      <p:sp>
        <p:nvSpPr>
          <p:cNvPr id="19" name="Tarjeta"/>
          <p:cNvSpPr/>
          <p:nvPr/>
        </p:nvSpPr>
        <p:spPr>
          <a:xfrm>
            <a:off x="3672840" y="1508760"/>
            <a:ext cx="2749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01440" y="1691639"/>
            <a:ext cx="22920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—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1440" y="2377439"/>
            <a:ext cx="2292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tiempo promedio · se mide en la prueba</a:t>
            </a:r>
          </a:p>
        </p:txBody>
      </p:sp>
      <p:sp>
        <p:nvSpPr>
          <p:cNvPr id="22" name="Tarjeta"/>
          <p:cNvSpPr/>
          <p:nvPr/>
        </p:nvSpPr>
        <p:spPr>
          <a:xfrm>
            <a:off x="6586728" y="1508760"/>
            <a:ext cx="2749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5328" y="1691639"/>
            <a:ext cx="22920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5328" y="2377439"/>
            <a:ext cx="2292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errores · se cuentan en la prueba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3566160"/>
            <a:ext cx="8659368" cy="26974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4712" y="3794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LO QUE DIJO EL USUARIO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4206240"/>
            <a:ext cx="7927848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1">
                <a:solidFill>
                  <a:srgbClr val="14345F"/>
                </a:solidFill>
                <a:latin typeface="Arial"/>
              </a:rPr>
              <a:t>«Aquí va lo que diga el asesor en la prueba (semana 5).»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Qué aprendimos y qué cambiamos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8 · Validación · 1:30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169163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APRENDIMOS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0574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¿El asesor recibe y ve el pago registrado sin ayuda?</a:t>
            </a:r>
          </a:p>
        </p:txBody>
      </p:sp>
      <p:sp>
        <p:nvSpPr>
          <p:cNvPr id="19" name="Flecha"/>
          <p:cNvSpPr/>
          <p:nvPr/>
        </p:nvSpPr>
        <p:spPr>
          <a:xfrm>
            <a:off x="4828032" y="2057400"/>
            <a:ext cx="50292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arjeta"/>
          <p:cNvSpPr/>
          <p:nvPr/>
        </p:nvSpPr>
        <p:spPr>
          <a:xfrm>
            <a:off x="5468112" y="150876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96712" y="169163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AJUSTAMOS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2057400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Se completa con el cambio hecho en la v1.0</a:t>
            </a:r>
          </a:p>
        </p:txBody>
      </p:sp>
      <p:sp>
        <p:nvSpPr>
          <p:cNvPr id="23" name="Tarjeta"/>
          <p:cNvSpPr/>
          <p:nvPr/>
        </p:nvSpPr>
        <p:spPr>
          <a:xfrm>
            <a:off x="758952" y="3108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3291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APRENDIMOS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6576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¿Es claro el paso de conectar la billetera?</a:t>
            </a:r>
          </a:p>
        </p:txBody>
      </p:sp>
      <p:sp>
        <p:nvSpPr>
          <p:cNvPr id="26" name="Flecha"/>
          <p:cNvSpPr/>
          <p:nvPr/>
        </p:nvSpPr>
        <p:spPr>
          <a:xfrm>
            <a:off x="4828032" y="3657600"/>
            <a:ext cx="50292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arjeta"/>
          <p:cNvSpPr/>
          <p:nvPr/>
        </p:nvSpPr>
        <p:spPr>
          <a:xfrm>
            <a:off x="5468112" y="310896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96712" y="3291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AJUSTAMOS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3657600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Se completa con el cambio hecho en la v1.0</a:t>
            </a:r>
          </a:p>
        </p:txBody>
      </p:sp>
      <p:sp>
        <p:nvSpPr>
          <p:cNvPr id="30" name="Tarjeta"/>
          <p:cNvSpPr/>
          <p:nvPr/>
        </p:nvSpPr>
        <p:spPr>
          <a:xfrm>
            <a:off x="758952" y="47091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4892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APRENDIMOS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2578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¿Se siente seguro recibiendo el apartado en cripto?</a:t>
            </a:r>
          </a:p>
        </p:txBody>
      </p:sp>
      <p:sp>
        <p:nvSpPr>
          <p:cNvPr id="33" name="Flecha"/>
          <p:cNvSpPr/>
          <p:nvPr/>
        </p:nvSpPr>
        <p:spPr>
          <a:xfrm>
            <a:off x="4828032" y="5257800"/>
            <a:ext cx="50292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arjeta"/>
          <p:cNvSpPr/>
          <p:nvPr/>
        </p:nvSpPr>
        <p:spPr>
          <a:xfrm>
            <a:off x="5468112" y="470916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96712" y="4892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AJUSTAMOS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6712" y="5257800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Se completa con el cambio hecho en la v1.0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Campaña de lanzamiento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1 · Portada · logo, eslogan y elementos FabLab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issues 13 y 14, docs/10-campana.md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310896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Espacio para imagen"/>
          <p:cNvSpPr/>
          <p:nvPr/>
        </p:nvSpPr>
        <p:spPr>
          <a:xfrm>
            <a:off x="1033271" y="1783080"/>
            <a:ext cx="256032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1" y="4114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NOMBRE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4348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345F"/>
                </a:solidFill>
                <a:latin typeface="Arial"/>
              </a:rPr>
              <a:t>Apartado con cripto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50749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ESLOGAN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539496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14345F"/>
                </a:solidFill>
                <a:latin typeface="Arial"/>
              </a:rPr>
              <a:t>Separa tu inmueble y paga el apartado desde tu billetera digital</a:t>
            </a:r>
          </a:p>
        </p:txBody>
      </p:sp>
      <p:sp>
        <p:nvSpPr>
          <p:cNvPr id="24" name="Espacio para imagen"/>
          <p:cNvSpPr/>
          <p:nvPr/>
        </p:nvSpPr>
        <p:spPr>
          <a:xfrm>
            <a:off x="4096511" y="1508760"/>
            <a:ext cx="2546604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96511" y="5486400"/>
            <a:ext cx="254660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Propuesta: llavero en forma de casa con el nombre, en MDF con corte láser</a:t>
            </a:r>
          </a:p>
        </p:txBody>
      </p:sp>
      <p:sp>
        <p:nvSpPr>
          <p:cNvPr id="27" name="Espacio para imagen"/>
          <p:cNvSpPr/>
          <p:nvPr/>
        </p:nvSpPr>
        <p:spPr>
          <a:xfrm>
            <a:off x="6871716" y="1508760"/>
            <a:ext cx="2546604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71716" y="5486400"/>
            <a:ext cx="254660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Propuesta: sticker del logo en vinilo de corte</a:t>
            </a:r>
          </a:p>
        </p:txBody>
      </p:sp>
      <p:pic>
        <p:nvPicPr>
          <p:cNvPr id="30" name="Picture 29" descr="logo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31" y="1920240"/>
            <a:ext cx="1828800" cy="1828800"/>
          </a:xfrm>
          <a:prstGeom prst="rect">
            <a:avLst/>
          </a:prstGeom>
        </p:spPr>
      </p:pic>
      <p:pic>
        <p:nvPicPr>
          <p:cNvPr id="31" name="Picture 30" descr="fa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31" y="1578817"/>
            <a:ext cx="2455164" cy="3700366"/>
          </a:xfrm>
          <a:prstGeom prst="rect">
            <a:avLst/>
          </a:prstGeom>
        </p:spPr>
      </p:pic>
      <p:pic>
        <p:nvPicPr>
          <p:cNvPr id="32" name="Picture 31" descr="fa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7436" y="1578817"/>
            <a:ext cx="2455164" cy="370036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3DA2"/>
              </a:gs>
              <a:gs pos="52000">
                <a:srgbClr val="00807F"/>
              </a:gs>
              <a:gs pos="100000">
                <a:srgbClr val="00BE6A"/>
              </a:gs>
            </a:gsLst>
            <a:lin ang="18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n 11" descr="Universidad Ean"/>
          <p:cNvPicPr>
            <a:picLocks noChangeAspect="1"/>
          </p:cNvPicPr>
          <p:nvPr/>
        </p:nvPicPr>
        <p:blipFill>
          <a:blip r:embed="rId3"/>
          <a:srcRect l="-66" r="-66"/>
          <a:stretch/>
        </p:blipFill>
        <p:spPr>
          <a:xfrm>
            <a:off x="9931400" y="508000"/>
            <a:ext cx="1498600" cy="660400"/>
          </a:xfrm>
          <a:prstGeom prst="rect">
            <a:avLst/>
          </a:prstGeom>
        </p:spPr>
      </p:pic>
      <p:pic>
        <p:nvPicPr>
          <p:cNvPr id="12" name="Imagen 12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9931400" y="5892800"/>
            <a:ext cx="1498600" cy="482600"/>
          </a:xfrm>
          <a:prstGeom prst="rect">
            <a:avLst/>
          </a:prstGeom>
        </p:spPr>
      </p:pic>
      <p:sp>
        <p:nvSpPr>
          <p:cNvPr id="13" name="Antetítulo"/>
          <p:cNvSpPr/>
          <p:nvPr/>
        </p:nvSpPr>
        <p:spPr>
          <a:xfrm>
            <a:off x="762000" y="27178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APARTADO CON CRIPTO</a:t>
            </a:r>
            <a:endParaRPr lang="es-CO" sz="1400" dirty="0"/>
          </a:p>
        </p:txBody>
      </p:sp>
      <p:sp>
        <p:nvSpPr>
          <p:cNvPr id="14" name="Título"/>
          <p:cNvSpPr/>
          <p:nvPr/>
        </p:nvSpPr>
        <p:spPr>
          <a:xfrm>
            <a:off x="762000" y="3048000"/>
            <a:ext cx="889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Gracias · Preguntas</a:t>
            </a:r>
            <a:endParaRPr lang="es-CO" sz="5000" dirty="0"/>
          </a:p>
        </p:txBody>
      </p:sp>
      <p:sp>
        <p:nvSpPr>
          <p:cNvPr id="15" name="Subtítulo"/>
          <p:cNvSpPr/>
          <p:nvPr/>
        </p:nvSpPr>
        <p:spPr>
          <a:xfrm>
            <a:off x="762000" y="4724400"/>
            <a:ext cx="838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dirty="0">
                <a:solidFill>
                  <a:srgbClr val="DCECF5"/>
                </a:solidFill>
                <a:latin typeface="Arial"/>
                <a:ea typeface="Arial"/>
                <a:cs typeface="Arial"/>
              </a:rPr>
              <a:t>Separa tu inmueble y paga el apartado desde tu billetera digital · Repositorio: github.com/felipeesco/Grupo-1-One-goal</a:t>
            </a:r>
            <a:endParaRPr lang="es-CO" sz="1800" dirty="0"/>
          </a:p>
        </p:txBody>
      </p:sp>
      <p:sp>
        <p:nvSpPr>
          <p:cNvPr id="16" name="Pie"/>
          <p:cNvSpPr/>
          <p:nvPr/>
        </p:nvSpPr>
        <p:spPr>
          <a:xfrm>
            <a:off x="762000" y="63119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Facultad de Ingeniería · Unidad de estudio transversal · Ciclo 4 de 2026</a:t>
            </a:r>
            <a:endParaRPr lang="es-CO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Anexo · Matriz de riesgos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Material de apoyo para las preguntas del jurado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docs/09-riesgos.md (issue 12)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287121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15087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Riesgo</a:t>
            </a:r>
          </a:p>
        </p:txBody>
      </p:sp>
      <p:sp>
        <p:nvSpPr>
          <p:cNvPr id="19" name="Tarjeta"/>
          <p:cNvSpPr/>
          <p:nvPr/>
        </p:nvSpPr>
        <p:spPr>
          <a:xfrm>
            <a:off x="3685032" y="1508760"/>
            <a:ext cx="1225295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22192" y="1508760"/>
            <a:ext cx="100583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Nivel</a:t>
            </a:r>
          </a:p>
        </p:txBody>
      </p:sp>
      <p:sp>
        <p:nvSpPr>
          <p:cNvPr id="21" name="Tarjeta"/>
          <p:cNvSpPr/>
          <p:nvPr/>
        </p:nvSpPr>
        <p:spPr>
          <a:xfrm>
            <a:off x="4965192" y="1508760"/>
            <a:ext cx="287121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02352" y="15087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Tratamiento</a:t>
            </a:r>
          </a:p>
        </p:txBody>
      </p:sp>
      <p:sp>
        <p:nvSpPr>
          <p:cNvPr id="23" name="Tarjeta"/>
          <p:cNvSpPr/>
          <p:nvPr/>
        </p:nvSpPr>
        <p:spPr>
          <a:xfrm>
            <a:off x="7891271" y="1508760"/>
            <a:ext cx="1472184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1" y="1508760"/>
            <a:ext cx="125272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Responsable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1993391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1993391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El cliente no confía en pagar el apartado por una plataforma digital</a:t>
            </a:r>
          </a:p>
        </p:txBody>
      </p:sp>
      <p:sp>
        <p:nvSpPr>
          <p:cNvPr id="27" name="Tarjeta"/>
          <p:cNvSpPr/>
          <p:nvPr/>
        </p:nvSpPr>
        <p:spPr>
          <a:xfrm>
            <a:off x="3685032" y="1993391"/>
            <a:ext cx="1225295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22192" y="1993391"/>
            <a:ext cx="1005839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Alto</a:t>
            </a:r>
          </a:p>
        </p:txBody>
      </p:sp>
      <p:sp>
        <p:nvSpPr>
          <p:cNvPr id="29" name="Tarjeta"/>
          <p:cNvSpPr/>
          <p:nvPr/>
        </p:nvSpPr>
        <p:spPr>
          <a:xfrm>
            <a:off x="4965192" y="1993391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02352" y="1993391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Reducir: probar primero en red de prueba y explicar el pago paso a paso</a:t>
            </a:r>
          </a:p>
        </p:txBody>
      </p:sp>
      <p:sp>
        <p:nvSpPr>
          <p:cNvPr id="31" name="Tarjeta"/>
          <p:cNvSpPr/>
          <p:nvPr/>
        </p:nvSpPr>
        <p:spPr>
          <a:xfrm>
            <a:off x="7891271" y="1993391"/>
            <a:ext cx="147218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28431" y="1993391"/>
            <a:ext cx="125272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UX</a:t>
            </a:r>
          </a:p>
        </p:txBody>
      </p:sp>
      <p:sp>
        <p:nvSpPr>
          <p:cNvPr id="33" name="Tarjeta"/>
          <p:cNvSpPr/>
          <p:nvPr/>
        </p:nvSpPr>
        <p:spPr>
          <a:xfrm>
            <a:off x="758952" y="309067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309067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Falla el contrato inteligente y no bloquea el inmueble</a:t>
            </a:r>
          </a:p>
        </p:txBody>
      </p:sp>
      <p:sp>
        <p:nvSpPr>
          <p:cNvPr id="35" name="Tarjeta"/>
          <p:cNvSpPr/>
          <p:nvPr/>
        </p:nvSpPr>
        <p:spPr>
          <a:xfrm>
            <a:off x="3685032" y="3090672"/>
            <a:ext cx="1225295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22192" y="3090672"/>
            <a:ext cx="1005839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Alto</a:t>
            </a:r>
          </a:p>
        </p:txBody>
      </p:sp>
      <p:sp>
        <p:nvSpPr>
          <p:cNvPr id="37" name="Tarjeta"/>
          <p:cNvSpPr/>
          <p:nvPr/>
        </p:nvSpPr>
        <p:spPr>
          <a:xfrm>
            <a:off x="4965192" y="309067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02352" y="309067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Reducir: probar el contrato en red de prueba antes de la demo</a:t>
            </a:r>
          </a:p>
        </p:txBody>
      </p:sp>
      <p:sp>
        <p:nvSpPr>
          <p:cNvPr id="39" name="Tarjeta"/>
          <p:cNvSpPr/>
          <p:nvPr/>
        </p:nvSpPr>
        <p:spPr>
          <a:xfrm>
            <a:off x="7891271" y="3090672"/>
            <a:ext cx="147218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28431" y="3090672"/>
            <a:ext cx="125272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PR</a:t>
            </a:r>
          </a:p>
        </p:txBody>
      </p:sp>
      <p:sp>
        <p:nvSpPr>
          <p:cNvPr id="41" name="Tarjeta"/>
          <p:cNvSpPr/>
          <p:nvPr/>
        </p:nvSpPr>
        <p:spPr>
          <a:xfrm>
            <a:off x="758952" y="418795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418795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El cliente no tiene billetera digital ni cripto</a:t>
            </a:r>
          </a:p>
        </p:txBody>
      </p:sp>
      <p:sp>
        <p:nvSpPr>
          <p:cNvPr id="43" name="Tarjeta"/>
          <p:cNvSpPr/>
          <p:nvPr/>
        </p:nvSpPr>
        <p:spPr>
          <a:xfrm>
            <a:off x="3685032" y="4187952"/>
            <a:ext cx="1225295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22192" y="4187952"/>
            <a:ext cx="1005839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Medio</a:t>
            </a:r>
          </a:p>
        </p:txBody>
      </p:sp>
      <p:sp>
        <p:nvSpPr>
          <p:cNvPr id="45" name="Tarjeta"/>
          <p:cNvSpPr/>
          <p:nvPr/>
        </p:nvSpPr>
        <p:spPr>
          <a:xfrm>
            <a:off x="4965192" y="418795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02352" y="418795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Reducir: guía corta para crear la billetera y usar la red de prueba</a:t>
            </a:r>
          </a:p>
        </p:txBody>
      </p:sp>
      <p:sp>
        <p:nvSpPr>
          <p:cNvPr id="47" name="Tarjeta"/>
          <p:cNvSpPr/>
          <p:nvPr/>
        </p:nvSpPr>
        <p:spPr>
          <a:xfrm>
            <a:off x="7891271" y="4187952"/>
            <a:ext cx="147218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28431" y="4187952"/>
            <a:ext cx="125272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PR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5486400"/>
            <a:ext cx="86593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Perfil de ciberseguridad: la solución maneja la dirección de la billetera, el inmueble, el valor y la fecha del apartado. No guarda llaves privadas ni datos bancarios: el cliente firma desde su billetera y todo corre en red de prueba.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Anexo · Declaración de uso de IA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Acuerdo CSU 006 de 2025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docs/11-uso-ia.md (issue 17)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177393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15087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Herramienta</a:t>
            </a:r>
          </a:p>
        </p:txBody>
      </p:sp>
      <p:sp>
        <p:nvSpPr>
          <p:cNvPr id="19" name="Tarjeta"/>
          <p:cNvSpPr/>
          <p:nvPr/>
        </p:nvSpPr>
        <p:spPr>
          <a:xfrm>
            <a:off x="2587752" y="1508760"/>
            <a:ext cx="131673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24912" y="15087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Fecha</a:t>
            </a:r>
          </a:p>
        </p:txBody>
      </p:sp>
      <p:sp>
        <p:nvSpPr>
          <p:cNvPr id="21" name="Tarjeta"/>
          <p:cNvSpPr/>
          <p:nvPr/>
        </p:nvSpPr>
        <p:spPr>
          <a:xfrm>
            <a:off x="3959352" y="1508760"/>
            <a:ext cx="232257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96512" y="1508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Para qué</a:t>
            </a:r>
          </a:p>
        </p:txBody>
      </p:sp>
      <p:sp>
        <p:nvSpPr>
          <p:cNvPr id="23" name="Tarjeta"/>
          <p:cNvSpPr/>
          <p:nvPr/>
        </p:nvSpPr>
        <p:spPr>
          <a:xfrm>
            <a:off x="6336792" y="1508760"/>
            <a:ext cx="3026664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1508760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Prompt (resumen)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1993391"/>
            <a:ext cx="17739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1993391"/>
            <a:ext cx="15544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Claude Opus 5.5 (Anthropic)</a:t>
            </a:r>
          </a:p>
        </p:txBody>
      </p:sp>
      <p:sp>
        <p:nvSpPr>
          <p:cNvPr id="27" name="Tarjeta"/>
          <p:cNvSpPr/>
          <p:nvPr/>
        </p:nvSpPr>
        <p:spPr>
          <a:xfrm>
            <a:off x="2587752" y="1993391"/>
            <a:ext cx="13167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24912" y="1993391"/>
            <a:ext cx="10972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23/10</a:t>
            </a:r>
          </a:p>
        </p:txBody>
      </p:sp>
      <p:sp>
        <p:nvSpPr>
          <p:cNvPr id="29" name="Tarjeta"/>
          <p:cNvSpPr/>
          <p:nvPr/>
        </p:nvSpPr>
        <p:spPr>
          <a:xfrm>
            <a:off x="3959352" y="1993391"/>
            <a:ext cx="232257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96512" y="1993391"/>
            <a:ext cx="210312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BPMN del proceso (issue 04)</a:t>
            </a:r>
          </a:p>
        </p:txBody>
      </p:sp>
      <p:sp>
        <p:nvSpPr>
          <p:cNvPr id="31" name="Tarjeta"/>
          <p:cNvSpPr/>
          <p:nvPr/>
        </p:nvSpPr>
        <p:spPr>
          <a:xfrm>
            <a:off x="6336792" y="1993391"/>
            <a:ext cx="302666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1993391"/>
            <a:ext cx="280720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Generar el BPMN 2.0 del cobro del apartado con carriles, eventos y compuertas</a:t>
            </a:r>
          </a:p>
        </p:txBody>
      </p:sp>
      <p:sp>
        <p:nvSpPr>
          <p:cNvPr id="33" name="Tarjeta"/>
          <p:cNvSpPr/>
          <p:nvPr/>
        </p:nvSpPr>
        <p:spPr>
          <a:xfrm>
            <a:off x="758952" y="3090672"/>
            <a:ext cx="17739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3090672"/>
            <a:ext cx="15544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Claude Opus 5.5 (Anthropic)</a:t>
            </a:r>
          </a:p>
        </p:txBody>
      </p:sp>
      <p:sp>
        <p:nvSpPr>
          <p:cNvPr id="35" name="Tarjeta"/>
          <p:cNvSpPr/>
          <p:nvPr/>
        </p:nvSpPr>
        <p:spPr>
          <a:xfrm>
            <a:off x="2587752" y="3090672"/>
            <a:ext cx="13167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24912" y="3090672"/>
            <a:ext cx="10972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28/10</a:t>
            </a:r>
          </a:p>
        </p:txBody>
      </p:sp>
      <p:sp>
        <p:nvSpPr>
          <p:cNvPr id="37" name="Tarjeta"/>
          <p:cNvSpPr/>
          <p:nvPr/>
        </p:nvSpPr>
        <p:spPr>
          <a:xfrm>
            <a:off x="3959352" y="3090672"/>
            <a:ext cx="232257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96512" y="3090672"/>
            <a:ext cx="210312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Pitch (issue 16)</a:t>
            </a:r>
          </a:p>
        </p:txBody>
      </p:sp>
      <p:sp>
        <p:nvSpPr>
          <p:cNvPr id="39" name="Tarjeta"/>
          <p:cNvSpPr/>
          <p:nvPr/>
        </p:nvSpPr>
        <p:spPr>
          <a:xfrm>
            <a:off x="6336792" y="3090672"/>
            <a:ext cx="302666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3090672"/>
            <a:ext cx="280720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Llenar la plantilla del pitch con la información del repositorio</a:t>
            </a:r>
          </a:p>
        </p:txBody>
      </p:sp>
      <p:sp>
        <p:nvSpPr>
          <p:cNvPr id="41" name="Tarjeta"/>
          <p:cNvSpPr/>
          <p:nvPr/>
        </p:nvSpPr>
        <p:spPr>
          <a:xfrm>
            <a:off x="758952" y="4187952"/>
            <a:ext cx="17739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4187952"/>
            <a:ext cx="15544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Claude Opus 5.5 (Anthropic)</a:t>
            </a:r>
          </a:p>
        </p:txBody>
      </p:sp>
      <p:sp>
        <p:nvSpPr>
          <p:cNvPr id="43" name="Tarjeta"/>
          <p:cNvSpPr/>
          <p:nvPr/>
        </p:nvSpPr>
        <p:spPr>
          <a:xfrm>
            <a:off x="2587752" y="4187952"/>
            <a:ext cx="13167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24912" y="4187952"/>
            <a:ext cx="10972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28/10</a:t>
            </a:r>
          </a:p>
        </p:txBody>
      </p:sp>
      <p:sp>
        <p:nvSpPr>
          <p:cNvPr id="45" name="Tarjeta"/>
          <p:cNvSpPr/>
          <p:nvPr/>
        </p:nvSpPr>
        <p:spPr>
          <a:xfrm>
            <a:off x="3959352" y="4187952"/>
            <a:ext cx="232257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96512" y="4187952"/>
            <a:ext cx="210312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Imágenes del pitch</a:t>
            </a:r>
          </a:p>
        </p:txBody>
      </p:sp>
      <p:sp>
        <p:nvSpPr>
          <p:cNvPr id="47" name="Tarjeta"/>
          <p:cNvSpPr/>
          <p:nvPr/>
        </p:nvSpPr>
        <p:spPr>
          <a:xfrm>
            <a:off x="6336792" y="4187952"/>
            <a:ext cx="302666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73952" y="4187952"/>
            <a:ext cx="280720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Crear logo, wireframes y propuestas FabLab con la información del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E1A0F8-4AF4-4F64-A72D-BDEFEDF5EBB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45e2882-ca13-4bf6-9d6e-9d0bd96ce35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2868</Words>
  <Application>Microsoft Office PowerPoint</Application>
  <PresentationFormat>Panorámica</PresentationFormat>
  <Paragraphs>387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8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Pitch Trend &amp; Tech 2026</dc:title>
  <dc:creator>Ferney Torres Ome</dc:creator>
  <cp:keywords/>
  <dc:description/>
  <cp:lastModifiedBy>thomas rusinque</cp:lastModifiedBy>
  <cp:revision>3</cp:revision>
  <dcterms:created xsi:type="dcterms:W3CDTF">2026-10-08T13:46:20Z</dcterms:created>
  <dcterms:modified xsi:type="dcterms:W3CDTF">2026-10-29T23:45:50Z</dcterms:modified>
</cp:coreProperties>
</file>